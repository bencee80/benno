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embeddedFontLst>
    <p:embeddedFont>
      <p:font typeface="Fira Sans Extra Condensed Medium" panose="020B0604020202020204" charset="0"/>
      <p:regular r:id="rId22"/>
      <p:bold r:id="rId23"/>
      <p:italic r:id="rId24"/>
      <p:boldItalic r:id="rId25"/>
    </p:embeddedFont>
    <p:embeddedFont>
      <p:font typeface="Livvic" pitchFamily="2" charset="-18"/>
      <p:regular r:id="rId26"/>
      <p:bold r:id="rId27"/>
      <p:italic r:id="rId28"/>
      <p:boldItalic r:id="rId29"/>
    </p:embeddedFont>
    <p:embeddedFont>
      <p:font typeface="Roboto Condensed Light" panose="02000000000000000000" pitchFamily="2" charset="0"/>
      <p:regular r:id="rId30"/>
      <p:bold r:id="rId31"/>
      <p:italic r:id="rId32"/>
      <p:boldItalic r:id="rId33"/>
    </p:embeddedFont>
    <p:embeddedFont>
      <p:font typeface="Squada One" panose="020B0604020202020204" charset="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gEzyg79ow+Fnsf9+tzX8PN/x+j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24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hu-HU"/>
              <a:t>Antal Bence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hu-HU"/>
              <a:t>Antal Bence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hu-HU"/>
              <a:t>Antal Bence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hu-HU"/>
              <a:t>Antal Bence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hu-HU"/>
              <a:t>Batári Noel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hu-HU"/>
              <a:t>Batári Noel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hu-HU"/>
              <a:t>Batári Noel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hu-HU"/>
              <a:t>Batári Noel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hu-HU"/>
              <a:t>Antal Bence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hu-HU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Product Owner manages the product, the Scrum Master facilitates processes, and the team develops the product. 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hu-HU"/>
              <a:t>Antal Bence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hu-HU"/>
              <a:t>Antal Bence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hu-HU"/>
              <a:t>Antal Bence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hu-HU"/>
              <a:t>Batári Noel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3bb7e6dc1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3bb7e6dc1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Batári Noel</a:t>
            </a: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hu-HU"/>
              <a:t>Batári Noel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hu-HU"/>
              <a:t>Batári Noel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hu-HU" dirty="0"/>
              <a:t>Batári Noel, Antal Bence</a:t>
            </a: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5400012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  <p:sp>
        <p:nvSpPr>
          <p:cNvPr id="11" name="Google Shape;11;p16"/>
          <p:cNvSpPr txBox="1"/>
          <p:nvPr/>
        </p:nvSpPr>
        <p:spPr>
          <a:xfrm flipH="1">
            <a:off x="1375550" y="3092475"/>
            <a:ext cx="63930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6000" b="0" i="0" u="none" strike="noStrike" cap="none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12" name="Google Shape;12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" y="-399756"/>
            <a:ext cx="9144000" cy="436938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6"/>
          <p:cNvSpPr txBox="1">
            <a:spLocks noGrp="1"/>
          </p:cNvSpPr>
          <p:nvPr>
            <p:ph type="title"/>
          </p:nvPr>
        </p:nvSpPr>
        <p:spPr>
          <a:xfrm>
            <a:off x="457200" y="2932650"/>
            <a:ext cx="82296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ubTitle" idx="1"/>
          </p:nvPr>
        </p:nvSpPr>
        <p:spPr>
          <a:xfrm>
            <a:off x="457275" y="3192525"/>
            <a:ext cx="82296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  <p:pic>
        <p:nvPicPr>
          <p:cNvPr id="17" name="Google Shape;1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80849" y="-92389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7251655" y="398810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7"/>
          <p:cNvSpPr txBox="1">
            <a:spLocks noGrp="1"/>
          </p:cNvSpPr>
          <p:nvPr>
            <p:ph type="ctrTitle"/>
          </p:nvPr>
        </p:nvSpPr>
        <p:spPr>
          <a:xfrm flipH="1">
            <a:off x="502200" y="445025"/>
            <a:ext cx="81846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ubTitle" idx="1"/>
          </p:nvPr>
        </p:nvSpPr>
        <p:spPr>
          <a:xfrm>
            <a:off x="1255350" y="1454625"/>
            <a:ext cx="6633300" cy="3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Livvic"/>
              <a:buAutoNum type="arabicPeriod"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6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ctrTitle"/>
          </p:nvPr>
        </p:nvSpPr>
        <p:spPr>
          <a:xfrm>
            <a:off x="1690457" y="2052406"/>
            <a:ext cx="26292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subTitle" idx="1"/>
          </p:nvPr>
        </p:nvSpPr>
        <p:spPr>
          <a:xfrm>
            <a:off x="2051807" y="2538657"/>
            <a:ext cx="1906500" cy="3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ctrTitle" idx="2"/>
          </p:nvPr>
        </p:nvSpPr>
        <p:spPr>
          <a:xfrm>
            <a:off x="1690457" y="3599531"/>
            <a:ext cx="26292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subTitle" idx="3"/>
          </p:nvPr>
        </p:nvSpPr>
        <p:spPr>
          <a:xfrm>
            <a:off x="2051807" y="4048600"/>
            <a:ext cx="1906500" cy="3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ctrTitle" idx="4"/>
          </p:nvPr>
        </p:nvSpPr>
        <p:spPr>
          <a:xfrm>
            <a:off x="4824357" y="2052406"/>
            <a:ext cx="26292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ubTitle" idx="5"/>
          </p:nvPr>
        </p:nvSpPr>
        <p:spPr>
          <a:xfrm>
            <a:off x="5185707" y="2538657"/>
            <a:ext cx="1906500" cy="3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ctrTitle" idx="6"/>
          </p:nvPr>
        </p:nvSpPr>
        <p:spPr>
          <a:xfrm>
            <a:off x="4824357" y="3599531"/>
            <a:ext cx="26292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subTitle" idx="7"/>
          </p:nvPr>
        </p:nvSpPr>
        <p:spPr>
          <a:xfrm>
            <a:off x="5185707" y="4048600"/>
            <a:ext cx="1906500" cy="3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ctrTitle" idx="8"/>
          </p:nvPr>
        </p:nvSpPr>
        <p:spPr>
          <a:xfrm>
            <a:off x="1122278" y="401450"/>
            <a:ext cx="6899400" cy="9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title" idx="9"/>
          </p:nvPr>
        </p:nvSpPr>
        <p:spPr>
          <a:xfrm>
            <a:off x="2128157" y="1555631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title" idx="13"/>
          </p:nvPr>
        </p:nvSpPr>
        <p:spPr>
          <a:xfrm>
            <a:off x="2128157" y="3074022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title" idx="14"/>
          </p:nvPr>
        </p:nvSpPr>
        <p:spPr>
          <a:xfrm>
            <a:off x="5262057" y="1555631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title" idx="15"/>
          </p:nvPr>
        </p:nvSpPr>
        <p:spPr>
          <a:xfrm>
            <a:off x="5262057" y="3074022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25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51926" y="-847134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6559554" y="-846583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52472" y="2791087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6549518" y="2790536"/>
            <a:ext cx="3136825" cy="283035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0"/>
          <p:cNvSpPr txBox="1">
            <a:spLocks noGrp="1"/>
          </p:cNvSpPr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4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6843313" y="-9498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12" y="-9498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41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7247964" y="3135292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984228" y="3055367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quada One"/>
              <a:buNone/>
              <a:defRPr sz="3000" b="0" i="0" u="none" strike="noStrike" cap="none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Condensed Light"/>
              <a:buChar char="●"/>
              <a:defRPr sz="18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 Condensed Light"/>
              <a:buChar char="■"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"/>
          <p:cNvSpPr txBox="1">
            <a:spLocks noGrp="1"/>
          </p:cNvSpPr>
          <p:nvPr>
            <p:ph type="title"/>
          </p:nvPr>
        </p:nvSpPr>
        <p:spPr>
          <a:xfrm>
            <a:off x="457275" y="2387527"/>
            <a:ext cx="82296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-HU">
                <a:latin typeface="Calibri"/>
                <a:ea typeface="Calibri"/>
                <a:cs typeface="Calibri"/>
                <a:sym typeface="Calibri"/>
              </a:rPr>
              <a:t>Network Presentation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 txBox="1">
            <a:spLocks noGrp="1"/>
          </p:cNvSpPr>
          <p:nvPr>
            <p:ph type="subTitle" idx="1"/>
          </p:nvPr>
        </p:nvSpPr>
        <p:spPr>
          <a:xfrm>
            <a:off x="457275" y="3104602"/>
            <a:ext cx="82296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-HU" sz="2000">
                <a:latin typeface="Calibri"/>
                <a:ea typeface="Calibri"/>
                <a:cs typeface="Calibri"/>
                <a:sym typeface="Calibri"/>
              </a:rPr>
              <a:t>BenNo Ltd.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>
            <a:spLocks noGrp="1"/>
          </p:cNvSpPr>
          <p:nvPr>
            <p:ph type="ctrTitle"/>
          </p:nvPr>
        </p:nvSpPr>
        <p:spPr>
          <a:xfrm flipH="1">
            <a:off x="502200" y="445025"/>
            <a:ext cx="81846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u-HU"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303000" y="1115525"/>
            <a:ext cx="8582400" cy="21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hu-HU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network is designed to solve </a:t>
            </a: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BalancePro</a:t>
            </a:r>
            <a:r>
              <a:rPr lang="hu-H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accounting company's struggles with workplace expansion. </a:t>
            </a:r>
            <a:endParaRPr/>
          </a:p>
          <a:p>
            <a:pPr marL="4572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hu-HU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We, the BenNo Ltd. were contacted to make a template and build up the expanded offices' and renew the existing office's network.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3"/>
          <p:cNvSpPr txBox="1">
            <a:spLocks noGrp="1"/>
          </p:cNvSpPr>
          <p:nvPr>
            <p:ph type="ctrTitle"/>
          </p:nvPr>
        </p:nvSpPr>
        <p:spPr>
          <a:xfrm flipH="1">
            <a:off x="502200" y="445025"/>
            <a:ext cx="81846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u-HU">
                <a:latin typeface="Calibri"/>
                <a:ea typeface="Calibri"/>
                <a:cs typeface="Calibri"/>
                <a:sym typeface="Calibri"/>
              </a:rPr>
              <a:t>Teamwork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3"/>
          <p:cNvSpPr txBox="1"/>
          <p:nvPr/>
        </p:nvSpPr>
        <p:spPr>
          <a:xfrm>
            <a:off x="502200" y="1509750"/>
            <a:ext cx="32571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Antal Bence</a:t>
            </a:r>
            <a:endParaRPr/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</a:t>
            </a: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 manager (PM)</a:t>
            </a:r>
            <a:endParaRPr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Network actualization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Documentation and Presentation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Network Tester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3"/>
          <p:cNvSpPr txBox="1"/>
          <p:nvPr/>
        </p:nvSpPr>
        <p:spPr>
          <a:xfrm>
            <a:off x="4890760" y="1509750"/>
            <a:ext cx="2764466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Batári Noel</a:t>
            </a:r>
            <a:endParaRPr/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Network actualization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Documentation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Video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000"/>
                            </p:stCondLst>
                            <p:childTnLst>
                              <p:par>
                                <p:cTn id="6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500"/>
                            </p:stCondLst>
                            <p:childTnLst>
                              <p:par>
                                <p:cTn id="7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ctrTitle" idx="8"/>
          </p:nvPr>
        </p:nvSpPr>
        <p:spPr>
          <a:xfrm>
            <a:off x="1122278" y="401450"/>
            <a:ext cx="6899400" cy="9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-HU">
                <a:latin typeface="Calibri"/>
                <a:ea typeface="Calibri"/>
                <a:cs typeface="Calibri"/>
                <a:sym typeface="Calibri"/>
              </a:rPr>
              <a:t>Network structure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369410" y="1168520"/>
            <a:ext cx="22905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Complex topology: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Star topology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Tree topology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Hierarchical</a:t>
            </a: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topology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1455" y="1168520"/>
            <a:ext cx="6668701" cy="2402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>
            <a:spLocks noGrp="1"/>
          </p:cNvSpPr>
          <p:nvPr>
            <p:ph type="ctrTitle"/>
          </p:nvPr>
        </p:nvSpPr>
        <p:spPr>
          <a:xfrm flipH="1">
            <a:off x="479700" y="105266"/>
            <a:ext cx="81846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u-HU">
                <a:latin typeface="Calibri"/>
                <a:ea typeface="Calibri"/>
                <a:cs typeface="Calibri"/>
                <a:sym typeface="Calibri"/>
              </a:rPr>
              <a:t>Routers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22764" y="1597072"/>
            <a:ext cx="7051698" cy="194935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5"/>
          <p:cNvSpPr txBox="1"/>
          <p:nvPr/>
        </p:nvSpPr>
        <p:spPr>
          <a:xfrm>
            <a:off x="254266" y="1596253"/>
            <a:ext cx="2082534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OSPF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Static NAT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ACL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Daily message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Privileged password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TFTP backup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SSH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>
            <a:spLocks noGrp="1"/>
          </p:cNvSpPr>
          <p:nvPr>
            <p:ph type="ctrTitle"/>
          </p:nvPr>
        </p:nvSpPr>
        <p:spPr>
          <a:xfrm flipH="1">
            <a:off x="479700" y="105266"/>
            <a:ext cx="81846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u-HU">
                <a:latin typeface="Calibri"/>
                <a:ea typeface="Calibri"/>
                <a:cs typeface="Calibri"/>
                <a:sym typeface="Calibri"/>
              </a:rPr>
              <a:t>Multilayer switches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950755" y="1694587"/>
            <a:ext cx="2440092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OSPF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VLAN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Privileged passwords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Daily message 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Hostname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TFTP backup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SSH</a:t>
            </a:r>
            <a:endParaRPr/>
          </a:p>
        </p:txBody>
      </p:sp>
      <p:pic>
        <p:nvPicPr>
          <p:cNvPr id="88" name="Google Shape;8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1996" y="1139064"/>
            <a:ext cx="3338777" cy="1111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1995" y="2893392"/>
            <a:ext cx="3338777" cy="1130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>
            <a:spLocks noGrp="1"/>
          </p:cNvSpPr>
          <p:nvPr>
            <p:ph type="ctrTitle"/>
          </p:nvPr>
        </p:nvSpPr>
        <p:spPr>
          <a:xfrm flipH="1">
            <a:off x="479700" y="105266"/>
            <a:ext cx="81846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u-HU">
                <a:latin typeface="Calibri"/>
                <a:ea typeface="Calibri"/>
                <a:cs typeface="Calibri"/>
                <a:sym typeface="Calibri"/>
              </a:rPr>
              <a:t>Subnetworks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748" y="1108364"/>
            <a:ext cx="8274504" cy="180486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7"/>
          <p:cNvSpPr txBox="1"/>
          <p:nvPr/>
        </p:nvSpPr>
        <p:spPr>
          <a:xfrm>
            <a:off x="434748" y="3037838"/>
            <a:ext cx="21660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hu-H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VLAN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hu-H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Wireless networking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hu-H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Privileged passwords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hu-HU">
                <a:solidFill>
                  <a:schemeClr val="lt1"/>
                </a:solidFill>
              </a:rPr>
              <a:t>Daily</a:t>
            </a:r>
            <a:r>
              <a:rPr lang="hu-H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message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hu-H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Hostname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hu-H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TFTP backup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hu-H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SSH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8282" y="690562"/>
            <a:ext cx="3895725" cy="37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4"/>
          <p:cNvSpPr txBox="1"/>
          <p:nvPr/>
        </p:nvSpPr>
        <p:spPr>
          <a:xfrm>
            <a:off x="516646" y="1694586"/>
            <a:ext cx="249299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IPV6 address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OSPF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DHCP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E-mail host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Privileged passwords 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Dailiy message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hostname 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TFTP backup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Dynamic NAT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 txBox="1">
            <a:spLocks noGrp="1"/>
          </p:cNvSpPr>
          <p:nvPr>
            <p:ph type="ctrTitle"/>
          </p:nvPr>
        </p:nvSpPr>
        <p:spPr>
          <a:xfrm flipH="1">
            <a:off x="479700" y="105266"/>
            <a:ext cx="81846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u-HU">
                <a:latin typeface="Calibri"/>
                <a:ea typeface="Calibri"/>
                <a:cs typeface="Calibri"/>
                <a:sym typeface="Calibri"/>
              </a:rPr>
              <a:t>Servers room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4050" y="1338262"/>
            <a:ext cx="5810250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9"/>
          <p:cNvSpPr txBox="1"/>
          <p:nvPr/>
        </p:nvSpPr>
        <p:spPr>
          <a:xfrm>
            <a:off x="479700" y="1328015"/>
            <a:ext cx="2152664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DHCP host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TFTP backup host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ACL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Firewall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Webserver host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DNS  host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WAN Access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Privileged passwords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Daily message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hostname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TFTP backup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SSH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000"/>
                            </p:stCondLst>
                            <p:childTnLst>
                              <p:par>
                                <p:cTn id="5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500"/>
                            </p:stCondLst>
                            <p:childTnLst>
                              <p:par>
                                <p:cTn id="6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 txBox="1">
            <a:spLocks noGrp="1"/>
          </p:cNvSpPr>
          <p:nvPr>
            <p:ph type="ctrTitle"/>
          </p:nvPr>
        </p:nvSpPr>
        <p:spPr>
          <a:xfrm flipH="1">
            <a:off x="479700" y="105266"/>
            <a:ext cx="81846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u-HU">
                <a:latin typeface="Calibri"/>
                <a:ea typeface="Calibri"/>
                <a:cs typeface="Calibri"/>
                <a:sym typeface="Calibri"/>
              </a:rPr>
              <a:t>Master network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9309" y="1764145"/>
            <a:ext cx="5994991" cy="127259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8"/>
          <p:cNvSpPr txBox="1"/>
          <p:nvPr/>
        </p:nvSpPr>
        <p:spPr>
          <a:xfrm>
            <a:off x="479700" y="1764145"/>
            <a:ext cx="2152664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ACL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Static</a:t>
            </a:r>
            <a:r>
              <a:rPr lang="hu-HU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routing</a:t>
            </a: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Privileged</a:t>
            </a:r>
            <a:br>
              <a:rPr lang="hu-HU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hu-HU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passwords</a:t>
            </a: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Daily </a:t>
            </a:r>
            <a:r>
              <a:rPr lang="hu-HU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message</a:t>
            </a: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hostname</a:t>
            </a: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TFTP backup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SSH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>
            <a:spLocks noGrp="1"/>
          </p:cNvSpPr>
          <p:nvPr>
            <p:ph type="ctrTitle"/>
          </p:nvPr>
        </p:nvSpPr>
        <p:spPr>
          <a:xfrm flipH="1">
            <a:off x="479700" y="406039"/>
            <a:ext cx="81846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u-HU" sz="6600">
                <a:latin typeface="Calibri"/>
                <a:ea typeface="Calibri"/>
                <a:cs typeface="Calibri"/>
                <a:sym typeface="Calibri"/>
              </a:rPr>
              <a:t>Scrum </a:t>
            </a:r>
            <a:endParaRPr sz="6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5"/>
          <p:cNvSpPr txBox="1"/>
          <p:nvPr/>
        </p:nvSpPr>
        <p:spPr>
          <a:xfrm>
            <a:off x="1071418" y="1662545"/>
            <a:ext cx="694574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Scrum model has three roles: Product Owner, Scrum Master, and Development Team. 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Their collaboration ensures agile efficiency.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>
            <a:spLocks noGrp="1"/>
          </p:cNvSpPr>
          <p:nvPr>
            <p:ph type="ctrTitle"/>
          </p:nvPr>
        </p:nvSpPr>
        <p:spPr>
          <a:xfrm flipH="1">
            <a:off x="479700" y="406039"/>
            <a:ext cx="81846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u-HU" sz="6600">
                <a:latin typeface="Calibri"/>
                <a:ea typeface="Calibri"/>
                <a:cs typeface="Calibri"/>
                <a:sym typeface="Calibri"/>
              </a:rPr>
              <a:t>Jira</a:t>
            </a:r>
            <a:endParaRPr sz="6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6"/>
          <p:cNvSpPr txBox="1"/>
          <p:nvPr/>
        </p:nvSpPr>
        <p:spPr>
          <a:xfrm>
            <a:off x="1198418" y="1745673"/>
            <a:ext cx="674716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Jira is a project management and issue-tracking software for agile teams. 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 helps with task management, sprint planning, and reporting. 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 is widely used for development and business processes.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>
            <a:spLocks noGrp="1"/>
          </p:cNvSpPr>
          <p:nvPr>
            <p:ph type="ctrTitle"/>
          </p:nvPr>
        </p:nvSpPr>
        <p:spPr>
          <a:xfrm flipH="1">
            <a:off x="479700" y="105266"/>
            <a:ext cx="81846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u-HU">
                <a:latin typeface="Calibri"/>
                <a:ea typeface="Calibri"/>
                <a:cs typeface="Calibri"/>
                <a:sym typeface="Calibri"/>
              </a:rPr>
              <a:t>Workflow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23C1831-629F-EDE5-8676-24B6D9EE9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804" y="775766"/>
            <a:ext cx="4014196" cy="3533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CD388675-91A9-D3BB-15CC-AE608AA92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2543" y="2042641"/>
            <a:ext cx="3331757" cy="999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>
            <a:spLocks noGrp="1"/>
          </p:cNvSpPr>
          <p:nvPr>
            <p:ph type="ctrTitle"/>
          </p:nvPr>
        </p:nvSpPr>
        <p:spPr>
          <a:xfrm flipH="1">
            <a:off x="479700" y="105266"/>
            <a:ext cx="81846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u-HU" dirty="0" err="1">
                <a:latin typeface="Calibri"/>
                <a:ea typeface="Calibri"/>
                <a:cs typeface="Calibri"/>
                <a:sym typeface="Calibri"/>
              </a:rPr>
              <a:t>Workflow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9A71DFB-959E-7B54-82D0-D3A03927A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00" y="775766"/>
            <a:ext cx="4096820" cy="3616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C785D3D-66EE-6B1A-C3D6-4276D25E4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2543" y="2071986"/>
            <a:ext cx="3331757" cy="999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bb7e6dc19_0_5"/>
          <p:cNvSpPr txBox="1">
            <a:spLocks noGrp="1"/>
          </p:cNvSpPr>
          <p:nvPr>
            <p:ph type="ctrTitle"/>
          </p:nvPr>
        </p:nvSpPr>
        <p:spPr>
          <a:xfrm flipH="1">
            <a:off x="502200" y="445025"/>
            <a:ext cx="81846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>
                <a:latin typeface="Calibri" panose="020F0502020204030204" pitchFamily="34" charset="0"/>
                <a:cs typeface="Calibri" panose="020F0502020204030204" pitchFamily="34" charset="0"/>
              </a:rPr>
              <a:t>Git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43F00822-5EEA-7EB6-F43B-D5C731F8B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200" y="1286244"/>
            <a:ext cx="5202865" cy="2709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B363733C-9307-93F2-6049-4E31322AB6DB}"/>
              </a:ext>
            </a:extLst>
          </p:cNvPr>
          <p:cNvSpPr txBox="1"/>
          <p:nvPr/>
        </p:nvSpPr>
        <p:spPr>
          <a:xfrm>
            <a:off x="5888473" y="1971585"/>
            <a:ext cx="27533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is a powerful version control system </a:t>
            </a:r>
            <a:endParaRPr lang="hu-HU" sz="1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enables branching and merging</a:t>
            </a:r>
            <a:endParaRPr lang="hu-HU" sz="1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>
            <a:spLocks noGrp="1"/>
          </p:cNvSpPr>
          <p:nvPr>
            <p:ph type="ctrTitle"/>
          </p:nvPr>
        </p:nvSpPr>
        <p:spPr>
          <a:xfrm flipH="1">
            <a:off x="479700" y="416671"/>
            <a:ext cx="81846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u-HU" sz="6600">
                <a:latin typeface="Calibri"/>
                <a:ea typeface="Calibri"/>
                <a:cs typeface="Calibri"/>
                <a:sym typeface="Calibri"/>
              </a:rPr>
              <a:t>Tests</a:t>
            </a:r>
            <a:endParaRPr sz="6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7575" y="1222991"/>
            <a:ext cx="7187176" cy="1396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94691" y="2755071"/>
            <a:ext cx="6132945" cy="2110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>
            <a:spLocks noGrp="1"/>
          </p:cNvSpPr>
          <p:nvPr>
            <p:ph type="ctrTitle"/>
          </p:nvPr>
        </p:nvSpPr>
        <p:spPr>
          <a:xfrm flipH="1">
            <a:off x="479700" y="21426"/>
            <a:ext cx="81846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u-HU">
                <a:latin typeface="Calibri"/>
                <a:ea typeface="Calibri"/>
                <a:cs typeface="Calibri"/>
                <a:sym typeface="Calibri"/>
              </a:rPr>
              <a:t>SWOT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 txBox="1">
            <a:spLocks noGrp="1"/>
          </p:cNvSpPr>
          <p:nvPr>
            <p:ph type="subTitle" idx="1"/>
          </p:nvPr>
        </p:nvSpPr>
        <p:spPr>
          <a:xfrm>
            <a:off x="1218080" y="1373742"/>
            <a:ext cx="1959300" cy="1271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hu-H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Cordinated teamwork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hu-H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Common agreement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hu-H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Productive work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hu-H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Creativity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 txBox="1"/>
          <p:nvPr/>
        </p:nvSpPr>
        <p:spPr>
          <a:xfrm>
            <a:off x="1260646" y="3401422"/>
            <a:ext cx="2608363" cy="1584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hu-HU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Scalable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hu-HU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New companies/business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hu-HU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Possibility of market expansion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hu-HU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Market gap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3"/>
          <p:cNvSpPr txBox="1"/>
          <p:nvPr/>
        </p:nvSpPr>
        <p:spPr>
          <a:xfrm>
            <a:off x="5590220" y="1177097"/>
            <a:ext cx="2170472" cy="1664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hu-HU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Time-consuming problem-solving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hu-HU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Insufficient knowledge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hu-HU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Decreasing  morale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hu-HU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Low brand awareness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 txBox="1"/>
          <p:nvPr/>
        </p:nvSpPr>
        <p:spPr>
          <a:xfrm>
            <a:off x="5650674" y="3416788"/>
            <a:ext cx="2049564" cy="1698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hu-HU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Competing companies/business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hu-HU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Weakening need of market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hu-HU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Loss of customers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hu-HU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Supplier issues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 txBox="1"/>
          <p:nvPr/>
        </p:nvSpPr>
        <p:spPr>
          <a:xfrm>
            <a:off x="1091988" y="729543"/>
            <a:ext cx="2647179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hu-HU" sz="4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Strenghts</a:t>
            </a:r>
            <a:endParaRPr sz="4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 txBox="1"/>
          <p:nvPr/>
        </p:nvSpPr>
        <p:spPr>
          <a:xfrm>
            <a:off x="1091988" y="2756066"/>
            <a:ext cx="2901365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hu-HU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Opportunities</a:t>
            </a:r>
            <a:endParaRPr sz="3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 txBox="1"/>
          <p:nvPr/>
        </p:nvSpPr>
        <p:spPr>
          <a:xfrm>
            <a:off x="5404834" y="729543"/>
            <a:ext cx="2541245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hu-HU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Weaknesses</a:t>
            </a:r>
            <a:endParaRPr sz="3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5342110" y="2823622"/>
            <a:ext cx="2541244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hu-HU" sz="4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Threats</a:t>
            </a:r>
            <a:endParaRPr sz="4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>
            <a:spLocks noGrp="1"/>
          </p:cNvSpPr>
          <p:nvPr>
            <p:ph type="ctrTitle"/>
          </p:nvPr>
        </p:nvSpPr>
        <p:spPr>
          <a:xfrm flipH="1">
            <a:off x="479700" y="166977"/>
            <a:ext cx="81846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u-HU">
                <a:latin typeface="Calibri"/>
                <a:ea typeface="Calibri"/>
                <a:cs typeface="Calibri"/>
                <a:sym typeface="Calibri"/>
              </a:rPr>
              <a:t>Future plans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 txBox="1"/>
          <p:nvPr/>
        </p:nvSpPr>
        <p:spPr>
          <a:xfrm>
            <a:off x="479700" y="1242113"/>
            <a:ext cx="6790642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hu-HU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network can be improved from multiple aspects, such as: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hu-HU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Firewall and Security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hu-HU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More endpoint devices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hu-HU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Increasing redundancy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hu-HU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Development for the website running on the web server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hu-HU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Server expansion (e.g., email server)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hu-HU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Expansion of admin networks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 txBox="1">
            <a:spLocks noGrp="1"/>
          </p:cNvSpPr>
          <p:nvPr>
            <p:ph type="title"/>
          </p:nvPr>
        </p:nvSpPr>
        <p:spPr>
          <a:xfrm>
            <a:off x="457275" y="800822"/>
            <a:ext cx="82296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-HU">
                <a:latin typeface="Calibri"/>
                <a:ea typeface="Calibri"/>
                <a:cs typeface="Calibri"/>
                <a:sym typeface="Calibri"/>
              </a:rPr>
              <a:t>Thanks for the attention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"/>
          <p:cNvSpPr txBox="1">
            <a:spLocks noGrp="1"/>
          </p:cNvSpPr>
          <p:nvPr>
            <p:ph type="subTitle" idx="1"/>
          </p:nvPr>
        </p:nvSpPr>
        <p:spPr>
          <a:xfrm>
            <a:off x="457275" y="3649724"/>
            <a:ext cx="8229600" cy="1042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-HU" sz="1800">
                <a:latin typeface="Calibri"/>
                <a:ea typeface="Calibri"/>
                <a:cs typeface="Calibri"/>
                <a:sym typeface="Calibri"/>
              </a:rPr>
              <a:t>Made by: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-HU" sz="1800">
                <a:latin typeface="Calibri"/>
                <a:ea typeface="Calibri"/>
                <a:cs typeface="Calibri"/>
                <a:sym typeface="Calibri"/>
              </a:rPr>
              <a:t>Antal Bence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-HU" sz="1800">
                <a:latin typeface="Calibri"/>
                <a:ea typeface="Calibri"/>
                <a:cs typeface="Calibri"/>
                <a:sym typeface="Calibri"/>
              </a:rPr>
              <a:t>Batári Noel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1686749" y="1645525"/>
            <a:ext cx="5770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1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</a:t>
            </a:r>
            <a:r>
              <a:rPr lang="hu-HU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21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may</a:t>
            </a:r>
            <a:r>
              <a:rPr lang="hu-HU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21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ask</a:t>
            </a:r>
            <a:r>
              <a:rPr lang="hu-HU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21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any</a:t>
            </a:r>
            <a:r>
              <a:rPr lang="hu-HU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21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questions</a:t>
            </a:r>
            <a:r>
              <a:rPr lang="hu-HU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21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related</a:t>
            </a:r>
            <a:r>
              <a:rPr lang="hu-HU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21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</a:t>
            </a:r>
            <a:r>
              <a:rPr lang="hu-HU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21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our</a:t>
            </a:r>
            <a:r>
              <a:rPr lang="hu-HU" sz="21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project. </a:t>
            </a:r>
            <a:endParaRPr sz="1700" b="1" dirty="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ch Startup X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88D3CE"/>
      </a:accent1>
      <a:accent2>
        <a:srgbClr val="423864"/>
      </a:accent2>
      <a:accent3>
        <a:srgbClr val="78909C"/>
      </a:accent3>
      <a:accent4>
        <a:srgbClr val="88D3CE"/>
      </a:accent4>
      <a:accent5>
        <a:srgbClr val="0097A7"/>
      </a:accent5>
      <a:accent6>
        <a:srgbClr val="423864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414</Words>
  <Application>Microsoft Office PowerPoint</Application>
  <PresentationFormat>Diavetítés a képernyőre (16:9 oldalarány)</PresentationFormat>
  <Paragraphs>143</Paragraphs>
  <Slides>19</Slides>
  <Notes>19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19</vt:i4>
      </vt:variant>
    </vt:vector>
  </HeadingPairs>
  <TitlesOfParts>
    <vt:vector size="26" baseType="lpstr">
      <vt:lpstr>Calibri</vt:lpstr>
      <vt:lpstr>Roboto Condensed Light</vt:lpstr>
      <vt:lpstr>Livvic</vt:lpstr>
      <vt:lpstr>Arial</vt:lpstr>
      <vt:lpstr>Fira Sans Extra Condensed Medium</vt:lpstr>
      <vt:lpstr>Squada One</vt:lpstr>
      <vt:lpstr>Tech Startup XL by Slidesgo</vt:lpstr>
      <vt:lpstr>Network Presentation</vt:lpstr>
      <vt:lpstr>Introduction</vt:lpstr>
      <vt:lpstr>Teamwork</vt:lpstr>
      <vt:lpstr>Network structure</vt:lpstr>
      <vt:lpstr>Routers</vt:lpstr>
      <vt:lpstr>Multilayer switches</vt:lpstr>
      <vt:lpstr>Subnetworks</vt:lpstr>
      <vt:lpstr>PowerPoint-bemutató</vt:lpstr>
      <vt:lpstr>Servers room</vt:lpstr>
      <vt:lpstr>Master network</vt:lpstr>
      <vt:lpstr>Scrum </vt:lpstr>
      <vt:lpstr>Jira</vt:lpstr>
      <vt:lpstr>Workflow</vt:lpstr>
      <vt:lpstr>Workflow</vt:lpstr>
      <vt:lpstr>Git</vt:lpstr>
      <vt:lpstr>Tests</vt:lpstr>
      <vt:lpstr>SWOT </vt:lpstr>
      <vt:lpstr>Future plans</vt:lpstr>
      <vt:lpstr>Thanks for the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Genczler heréje</dc:creator>
  <cp:lastModifiedBy>Antal Bence</cp:lastModifiedBy>
  <cp:revision>3</cp:revision>
  <dcterms:modified xsi:type="dcterms:W3CDTF">2025-03-02T19:22:23Z</dcterms:modified>
</cp:coreProperties>
</file>